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9144000"/>
  <p:notesSz cx="6858000" cy="9144000"/>
  <p:embeddedFontLst>
    <p:embeddedFont>
      <p:font typeface="Robot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9" roundtripDataSignature="AMtx7mg+z0kj3ltsaRakaG3vGQWJYzbd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regular.fntdata"/><Relationship Id="rId14" Type="http://schemas.openxmlformats.org/officeDocument/2006/relationships/slide" Target="slides/slide9.xml"/><Relationship Id="rId17" Type="http://schemas.openxmlformats.org/officeDocument/2006/relationships/font" Target="fonts/Roboto-italic.fntdata"/><Relationship Id="rId16" Type="http://schemas.openxmlformats.org/officeDocument/2006/relationships/font" Target="fonts/Roboto-bold.fntdata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font" Target="fonts/Robo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75c48cc5c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a75c48cc5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a75c48cc5c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a75c48cc5c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75c48cc5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a75c48cc5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g3a6b37c0292_0_251"/>
          <p:cNvGrpSpPr/>
          <p:nvPr/>
        </p:nvGrpSpPr>
        <p:grpSpPr>
          <a:xfrm>
            <a:off x="6098378" y="7"/>
            <a:ext cx="3045625" cy="2707359"/>
            <a:chOff x="6098378" y="5"/>
            <a:chExt cx="3045625" cy="2030570"/>
          </a:xfrm>
        </p:grpSpPr>
        <p:sp>
          <p:nvSpPr>
            <p:cNvPr id="11" name="Google Shape;11;g3a6b37c0292_0_25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g3a6b37c0292_0_25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g3a6b37c0292_0_25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g3a6b37c0292_0_25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g3a6b37c0292_0_25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g3a6b37c0292_0_251"/>
          <p:cNvSpPr txBox="1"/>
          <p:nvPr>
            <p:ph type="ctrTitle"/>
          </p:nvPr>
        </p:nvSpPr>
        <p:spPr>
          <a:xfrm>
            <a:off x="598100" y="2366963"/>
            <a:ext cx="8222100" cy="111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g3a6b37c0292_0_251"/>
          <p:cNvSpPr txBox="1"/>
          <p:nvPr>
            <p:ph idx="1" type="subTitle"/>
          </p:nvPr>
        </p:nvSpPr>
        <p:spPr>
          <a:xfrm>
            <a:off x="598088" y="3621217"/>
            <a:ext cx="8222100" cy="5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g3a6b37c0292_0_25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g3a6b37c0292_0_261"/>
          <p:cNvGrpSpPr/>
          <p:nvPr/>
        </p:nvGrpSpPr>
        <p:grpSpPr>
          <a:xfrm>
            <a:off x="6098378" y="7"/>
            <a:ext cx="3045625" cy="2707359"/>
            <a:chOff x="6098378" y="5"/>
            <a:chExt cx="3045625" cy="2030570"/>
          </a:xfrm>
        </p:grpSpPr>
        <p:sp>
          <p:nvSpPr>
            <p:cNvPr id="21" name="Google Shape;21;g3a6b37c0292_0_26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g3a6b37c0292_0_26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g3a6b37c0292_0_26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g3a6b37c0292_0_26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g3a6b37c0292_0_26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g3a6b37c0292_0_261"/>
          <p:cNvSpPr txBox="1"/>
          <p:nvPr>
            <p:ph type="title"/>
          </p:nvPr>
        </p:nvSpPr>
        <p:spPr>
          <a:xfrm>
            <a:off x="598100" y="2869796"/>
            <a:ext cx="8222100" cy="111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g3a6b37c0292_0_26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g3a6b37c0292_0_270"/>
          <p:cNvGrpSpPr/>
          <p:nvPr/>
        </p:nvGrpSpPr>
        <p:grpSpPr>
          <a:xfrm>
            <a:off x="0" y="5204762"/>
            <a:ext cx="9144000" cy="1653192"/>
            <a:chOff x="0" y="3903669"/>
            <a:chExt cx="9144000" cy="1239925"/>
          </a:xfrm>
        </p:grpSpPr>
        <p:sp>
          <p:nvSpPr>
            <p:cNvPr id="30" name="Google Shape;30;g3a6b37c0292_0_270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g3a6b37c0292_0_270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g3a6b37c0292_0_270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g3a6b37c0292_0_270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g3a6b37c0292_0_270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g3a6b37c0292_0_270"/>
          <p:cNvSpPr txBox="1"/>
          <p:nvPr>
            <p:ph type="title"/>
          </p:nvPr>
        </p:nvSpPr>
        <p:spPr>
          <a:xfrm>
            <a:off x="311700" y="546667"/>
            <a:ext cx="8520600" cy="81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g3a6b37c0292_0_270"/>
          <p:cNvSpPr txBox="1"/>
          <p:nvPr>
            <p:ph idx="1" type="body"/>
          </p:nvPr>
        </p:nvSpPr>
        <p:spPr>
          <a:xfrm>
            <a:off x="311700" y="1639833"/>
            <a:ext cx="8520600" cy="445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g3a6b37c0292_0_270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a6b37c0292_0_280"/>
          <p:cNvSpPr txBox="1"/>
          <p:nvPr>
            <p:ph type="title"/>
          </p:nvPr>
        </p:nvSpPr>
        <p:spPr>
          <a:xfrm>
            <a:off x="311700" y="546667"/>
            <a:ext cx="8520600" cy="81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g3a6b37c0292_0_280"/>
          <p:cNvSpPr txBox="1"/>
          <p:nvPr>
            <p:ph idx="1" type="body"/>
          </p:nvPr>
        </p:nvSpPr>
        <p:spPr>
          <a:xfrm>
            <a:off x="311700" y="1639967"/>
            <a:ext cx="3999900" cy="445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g3a6b37c0292_0_280"/>
          <p:cNvSpPr txBox="1"/>
          <p:nvPr>
            <p:ph idx="2" type="body"/>
          </p:nvPr>
        </p:nvSpPr>
        <p:spPr>
          <a:xfrm>
            <a:off x="4832400" y="1639967"/>
            <a:ext cx="3999900" cy="445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g3a6b37c0292_0_280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a6b37c0292_0_285"/>
          <p:cNvSpPr txBox="1"/>
          <p:nvPr>
            <p:ph type="title"/>
          </p:nvPr>
        </p:nvSpPr>
        <p:spPr>
          <a:xfrm>
            <a:off x="311700" y="546667"/>
            <a:ext cx="8520600" cy="81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g3a6b37c0292_0_285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a6b37c0292_0_288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g3a6b37c0292_0_288"/>
          <p:cNvSpPr txBox="1"/>
          <p:nvPr>
            <p:ph idx="1" type="body"/>
          </p:nvPr>
        </p:nvSpPr>
        <p:spPr>
          <a:xfrm>
            <a:off x="311700" y="1954405"/>
            <a:ext cx="2808000" cy="413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g3a6b37c0292_0_288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g3a6b37c0292_0_292"/>
          <p:cNvGrpSpPr/>
          <p:nvPr/>
        </p:nvGrpSpPr>
        <p:grpSpPr>
          <a:xfrm>
            <a:off x="6098378" y="7"/>
            <a:ext cx="3045625" cy="2707359"/>
            <a:chOff x="6098378" y="5"/>
            <a:chExt cx="3045625" cy="2030570"/>
          </a:xfrm>
        </p:grpSpPr>
        <p:sp>
          <p:nvSpPr>
            <p:cNvPr id="52" name="Google Shape;52;g3a6b37c0292_0_29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g3a6b37c0292_0_29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g3a6b37c0292_0_29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g3a6b37c0292_0_29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g3a6b37c0292_0_29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g3a6b37c0292_0_292"/>
          <p:cNvSpPr txBox="1"/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g3a6b37c0292_0_292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a6b37c0292_0_301"/>
          <p:cNvSpPr/>
          <p:nvPr/>
        </p:nvSpPr>
        <p:spPr>
          <a:xfrm>
            <a:off x="4572000" y="-2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g3a6b37c0292_0_301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g3a6b37c0292_0_301"/>
          <p:cNvSpPr txBox="1"/>
          <p:nvPr>
            <p:ph type="title"/>
          </p:nvPr>
        </p:nvSpPr>
        <p:spPr>
          <a:xfrm>
            <a:off x="265500" y="1534800"/>
            <a:ext cx="4045200" cy="208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g3a6b37c0292_0_301"/>
          <p:cNvSpPr txBox="1"/>
          <p:nvPr>
            <p:ph idx="1" type="subTitle"/>
          </p:nvPr>
        </p:nvSpPr>
        <p:spPr>
          <a:xfrm>
            <a:off x="265500" y="3692002"/>
            <a:ext cx="4045200" cy="16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g3a6b37c0292_0_301"/>
          <p:cNvSpPr txBox="1"/>
          <p:nvPr>
            <p:ph idx="2" type="body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g3a6b37c0292_0_30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6b37c0292_0_308"/>
          <p:cNvSpPr txBox="1"/>
          <p:nvPr>
            <p:ph idx="1" type="body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g3a6b37c0292_0_308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g3a6b37c0292_0_311"/>
          <p:cNvGrpSpPr/>
          <p:nvPr/>
        </p:nvGrpSpPr>
        <p:grpSpPr>
          <a:xfrm>
            <a:off x="6098378" y="7"/>
            <a:ext cx="3045625" cy="2707359"/>
            <a:chOff x="6098378" y="5"/>
            <a:chExt cx="3045625" cy="2030570"/>
          </a:xfrm>
        </p:grpSpPr>
        <p:sp>
          <p:nvSpPr>
            <p:cNvPr id="71" name="Google Shape;71;g3a6b37c0292_0_3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g3a6b37c0292_0_3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g3a6b37c0292_0_3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g3a6b37c0292_0_3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g3a6b37c0292_0_3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g3a6b37c0292_0_311"/>
          <p:cNvSpPr txBox="1"/>
          <p:nvPr>
            <p:ph hasCustomPrompt="1" type="title"/>
          </p:nvPr>
        </p:nvSpPr>
        <p:spPr>
          <a:xfrm>
            <a:off x="311700" y="1674733"/>
            <a:ext cx="8520600" cy="27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g3a6b37c0292_0_311"/>
          <p:cNvSpPr txBox="1"/>
          <p:nvPr>
            <p:ph idx="1" type="body"/>
          </p:nvPr>
        </p:nvSpPr>
        <p:spPr>
          <a:xfrm>
            <a:off x="311700" y="4492300"/>
            <a:ext cx="8520600" cy="17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g3a6b37c0292_0_31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a6b37c0292_0_321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6b37c0292_0_3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" name="Google Shape;83;g3a6b37c0292_0_323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84" name="Google Shape;84;g3a6b37c0292_0_323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g3a6b37c0292_0_323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g3a6b37c0292_0_32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a6b37c0292_0_247"/>
          <p:cNvSpPr txBox="1"/>
          <p:nvPr>
            <p:ph type="title"/>
          </p:nvPr>
        </p:nvSpPr>
        <p:spPr>
          <a:xfrm>
            <a:off x="311700" y="546667"/>
            <a:ext cx="8520600" cy="8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g3a6b37c0292_0_247"/>
          <p:cNvSpPr txBox="1"/>
          <p:nvPr>
            <p:ph idx="1" type="body"/>
          </p:nvPr>
        </p:nvSpPr>
        <p:spPr>
          <a:xfrm>
            <a:off x="311700" y="1639833"/>
            <a:ext cx="8520600" cy="44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g3a6b37c0292_0_247"/>
          <p:cNvSpPr txBox="1"/>
          <p:nvPr>
            <p:ph idx="12" type="sldNum"/>
          </p:nvPr>
        </p:nvSpPr>
        <p:spPr>
          <a:xfrm>
            <a:off x="8460431" y="6201587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>
            <p:ph type="ctrTitle"/>
          </p:nvPr>
        </p:nvSpPr>
        <p:spPr>
          <a:xfrm>
            <a:off x="598100" y="2366963"/>
            <a:ext cx="8222100" cy="111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Sistema Unidad Territorial</a:t>
            </a:r>
            <a:endParaRPr/>
          </a:p>
        </p:txBody>
      </p:sp>
      <p:sp>
        <p:nvSpPr>
          <p:cNvPr id="92" name="Google Shape;92;p1"/>
          <p:cNvSpPr txBox="1"/>
          <p:nvPr>
            <p:ph idx="1" type="subTitle"/>
          </p:nvPr>
        </p:nvSpPr>
        <p:spPr>
          <a:xfrm>
            <a:off x="598100" y="3621241"/>
            <a:ext cx="8222100" cy="1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/>
              <a:t>Proyecto APT - Fase 2</a:t>
            </a:r>
            <a:endParaRPr/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/>
              <a:t>Gabriel Madariaga</a:t>
            </a:r>
            <a:endParaRPr/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-US"/>
              <a:t>Ingeniería en Informática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del proyecto</a:t>
            </a:r>
            <a:endParaRPr/>
          </a:p>
        </p:txBody>
      </p:sp>
      <p:sp>
        <p:nvSpPr>
          <p:cNvPr id="98" name="Google Shape;98;p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Objetivo general:</a:t>
            </a:r>
            <a:endParaRPr sz="1800"/>
          </a:p>
          <a:p>
            <a:pPr indent="0" lvl="0" marL="3429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Desarrollar un sistema web que apoye la gestión administrativa y comunicacional de una junta de vecinos.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Objetivos específicos:</a:t>
            </a:r>
            <a:endParaRPr sz="1800"/>
          </a:p>
          <a:p>
            <a:pPr indent="0" lvl="0" marL="34290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Digitalizar la inscripción de vecinos.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Automatizar la solicitud de certificados.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Publicar noticias, proyectos y comunicados.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Habilitar un canal de contacto ciudadano.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Implementar una arquitectura escalable y mantenible.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utilizada</a:t>
            </a:r>
            <a:endParaRPr/>
          </a:p>
        </p:txBody>
      </p:sp>
      <p:sp>
        <p:nvSpPr>
          <p:cNvPr id="104" name="Google Shape;104;p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Se utilizó la metodología ágil Scrum, organizada en sprints cortos.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Principales actividades por sprint:</a:t>
            </a:r>
            <a:endParaRPr sz="1800"/>
          </a:p>
          <a:p>
            <a:pPr indent="0" lvl="0" marL="34290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Levantamiento y refinamiento de requisitos.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Diseño de arquitectura y modelo de datos.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Desarrollo incremental de módulos.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Pruebas y ajuste de funcionalidades.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Documentación de avances y retrospectiva.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sistema</a:t>
            </a:r>
            <a:endParaRPr/>
          </a:p>
        </p:txBody>
      </p:sp>
      <p:sp>
        <p:nvSpPr>
          <p:cNvPr id="110" name="Google Shape;110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Tecnologías utilizadas:</a:t>
            </a:r>
            <a:endParaRPr sz="1800"/>
          </a:p>
          <a:p>
            <a:pPr indent="0" lvl="0" marL="3429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Backend: Django (Python).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Frontend: HTML, CSS, Bootstrap.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Base de datos: MySQL.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Estructura general:</a:t>
            </a:r>
            <a:endParaRPr sz="1800"/>
          </a:p>
          <a:p>
            <a:pPr indent="0" lvl="0" marL="34290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Portal público: Servicios, Noticias, Contacto.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Intranet: gestión de vecinos, certificados, proyectos, actividades y notificaciones.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Módulos implementados</a:t>
            </a:r>
            <a:endParaRPr/>
          </a:p>
        </p:txBody>
      </p:sp>
      <p:sp>
        <p:nvSpPr>
          <p:cNvPr id="116" name="Google Shape;116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Portal público:</a:t>
            </a:r>
            <a:endParaRPr sz="1800"/>
          </a:p>
          <a:p>
            <a:pPr indent="0" lvl="0" marL="3429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Inicio y presentación del portal vecinal.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Servicios: inscripción, certificados, actividades.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Noticias: proyectos vecinales y comunicados.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Contacto: formulario y canal de WhatsApp.</a:t>
            </a:r>
            <a:endParaRPr/>
          </a:p>
          <a:p>
            <a:pPr indent="-2286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Intranet:</a:t>
            </a:r>
            <a:endParaRPr sz="1800"/>
          </a:p>
          <a:p>
            <a:pPr indent="0" lvl="0" marL="34290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Gestión de vecinos e inscripciones.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Administración de certificados.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Proyectos vecinales.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Actividades y reservas.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Notificaciones internas y externas.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75c48cc5c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Portal Publico</a:t>
            </a:r>
            <a:endParaRPr/>
          </a:p>
        </p:txBody>
      </p:sp>
      <p:pic>
        <p:nvPicPr>
          <p:cNvPr id="122" name="Google Shape;122;g3a75c48cc5c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100" y="1088625"/>
            <a:ext cx="7843626" cy="5615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75c48cc5c_0_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Intranet</a:t>
            </a:r>
            <a:endParaRPr/>
          </a:p>
        </p:txBody>
      </p:sp>
      <p:pic>
        <p:nvPicPr>
          <p:cNvPr id="128" name="Google Shape;128;g3a75c48cc5c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570050"/>
            <a:ext cx="9093375" cy="3729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Fase 2</a:t>
            </a:r>
            <a:endParaRPr/>
          </a:p>
        </p:txBody>
      </p:sp>
      <p:sp>
        <p:nvSpPr>
          <p:cNvPr id="134" name="Google Shape;134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Resultados principales:</a:t>
            </a:r>
            <a:endParaRPr sz="1800"/>
          </a:p>
          <a:p>
            <a:pPr indent="0" lvl="0" marL="3429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Prototipo funcional del sistema en ejecución.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Portal público operativo con navegación completa.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Intranet con módulos base configurados.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Definición de arquitectura, modelo de datos y flujos.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/>
              <a:t>- Documentación técnica y de avance elaborada.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5" name="Google Shape;135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4575" y="4465400"/>
            <a:ext cx="4089751" cy="2044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75c48cc5c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Conclusión</a:t>
            </a:r>
            <a:endParaRPr/>
          </a:p>
        </p:txBody>
      </p:sp>
      <p:sp>
        <p:nvSpPr>
          <p:cNvPr id="141" name="Google Shape;141;g3a75c48cc5c_0_0"/>
          <p:cNvSpPr txBox="1"/>
          <p:nvPr>
            <p:ph idx="1" type="body"/>
          </p:nvPr>
        </p:nvSpPr>
        <p:spPr>
          <a:xfrm>
            <a:off x="457200" y="1545700"/>
            <a:ext cx="8229600" cy="452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lnSpc>
                <a:spcPct val="115833"/>
              </a:lnSpc>
              <a:spcBef>
                <a:spcPts val="0"/>
              </a:spcBef>
              <a:spcAft>
                <a:spcPts val="800"/>
              </a:spcAft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El desarrollo del Sistema Unidad Territorial permitió integrar en una sola plataforma los servicios fundamentales para la gestión comunitaria, fortaleciendo la comunicación, la transparencia y la eficiencia operativa. La implementación de módulos como inscripción, certificados, actividades, proyectos vecinales y contacto demuestra una estructura sólida que responde a necesidades reales de la comunidad. La arquitectura basada en Django, sumada al uso de MySQL en contenedores Docker, asegura escalabilidad, mantenibilidad y un flujo de trabajo moderno. Este proyecto sienta una base robusta para futuras mejoras y ampliaciones, proyectándose como una herramienta clave para el fortalecimiento de la participación ciudadana y la administración territorial.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