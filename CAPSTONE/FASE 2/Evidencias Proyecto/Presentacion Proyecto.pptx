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iPi8ea3ZgSOJ0PC7Mu7OfwJxN8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696a6439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a696a643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696a643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a696a643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75c48cc5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a75c48cc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a6b37c0292_0_251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11" name="Google Shape;11;g3a6b37c0292_0_25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a6b37c0292_0_25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a6b37c0292_0_25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a6b37c0292_0_25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a6b37c0292_0_25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g3a6b37c0292_0_251"/>
          <p:cNvSpPr txBox="1"/>
          <p:nvPr>
            <p:ph type="ctrTitle"/>
          </p:nvPr>
        </p:nvSpPr>
        <p:spPr>
          <a:xfrm>
            <a:off x="598100" y="2366963"/>
            <a:ext cx="8222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a6b37c0292_0_251"/>
          <p:cNvSpPr txBox="1"/>
          <p:nvPr>
            <p:ph idx="1" type="subTitle"/>
          </p:nvPr>
        </p:nvSpPr>
        <p:spPr>
          <a:xfrm>
            <a:off x="598088" y="3621217"/>
            <a:ext cx="8222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3a6b37c0292_0_251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6b37c0292_0_3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g3a6b37c0292_0_3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2" name="Google Shape;22;g3a6b37c0292_0_3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a6b37c0292_0_3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a6b37c0292_0_3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g3a6b37c0292_0_261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7" name="Google Shape;27;g3a6b37c0292_0_26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3a6b37c0292_0_26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3a6b37c0292_0_26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a6b37c0292_0_26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a6b37c0292_0_26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g3a6b37c0292_0_261"/>
          <p:cNvSpPr txBox="1"/>
          <p:nvPr>
            <p:ph type="title"/>
          </p:nvPr>
        </p:nvSpPr>
        <p:spPr>
          <a:xfrm>
            <a:off x="598100" y="2869796"/>
            <a:ext cx="8222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g3a6b37c0292_0_261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g3a6b37c0292_0_270"/>
          <p:cNvGrpSpPr/>
          <p:nvPr/>
        </p:nvGrpSpPr>
        <p:grpSpPr>
          <a:xfrm>
            <a:off x="0" y="5204762"/>
            <a:ext cx="9144000" cy="1653192"/>
            <a:chOff x="0" y="3903669"/>
            <a:chExt cx="9144000" cy="1239925"/>
          </a:xfrm>
        </p:grpSpPr>
        <p:sp>
          <p:nvSpPr>
            <p:cNvPr id="36" name="Google Shape;36;g3a6b37c0292_0_27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3a6b37c0292_0_27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3a6b37c0292_0_27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3a6b37c0292_0_27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3a6b37c0292_0_270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g3a6b37c0292_0_270"/>
          <p:cNvSpPr txBox="1"/>
          <p:nvPr>
            <p:ph type="title"/>
          </p:nvPr>
        </p:nvSpPr>
        <p:spPr>
          <a:xfrm>
            <a:off x="311700" y="546667"/>
            <a:ext cx="85206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g3a6b37c0292_0_270"/>
          <p:cNvSpPr txBox="1"/>
          <p:nvPr>
            <p:ph idx="1" type="body"/>
          </p:nvPr>
        </p:nvSpPr>
        <p:spPr>
          <a:xfrm>
            <a:off x="311700" y="1639833"/>
            <a:ext cx="85206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g3a6b37c0292_0_270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b37c0292_0_280"/>
          <p:cNvSpPr txBox="1"/>
          <p:nvPr>
            <p:ph type="title"/>
          </p:nvPr>
        </p:nvSpPr>
        <p:spPr>
          <a:xfrm>
            <a:off x="311700" y="546667"/>
            <a:ext cx="85206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g3a6b37c0292_0_280"/>
          <p:cNvSpPr txBox="1"/>
          <p:nvPr>
            <p:ph idx="1" type="body"/>
          </p:nvPr>
        </p:nvSpPr>
        <p:spPr>
          <a:xfrm>
            <a:off x="311700" y="1639967"/>
            <a:ext cx="39999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a6b37c0292_0_280"/>
          <p:cNvSpPr txBox="1"/>
          <p:nvPr>
            <p:ph idx="2" type="body"/>
          </p:nvPr>
        </p:nvSpPr>
        <p:spPr>
          <a:xfrm>
            <a:off x="4832400" y="1639967"/>
            <a:ext cx="39999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g3a6b37c0292_0_280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6b37c0292_0_285"/>
          <p:cNvSpPr txBox="1"/>
          <p:nvPr>
            <p:ph type="title"/>
          </p:nvPr>
        </p:nvSpPr>
        <p:spPr>
          <a:xfrm>
            <a:off x="311700" y="546667"/>
            <a:ext cx="85206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g3a6b37c0292_0_285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6b37c0292_0_28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g3a6b37c0292_0_288"/>
          <p:cNvSpPr txBox="1"/>
          <p:nvPr>
            <p:ph idx="1" type="body"/>
          </p:nvPr>
        </p:nvSpPr>
        <p:spPr>
          <a:xfrm>
            <a:off x="311700" y="1954405"/>
            <a:ext cx="2808000" cy="4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g3a6b37c0292_0_288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a6b37c0292_0_29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58" name="Google Shape;58;g3a6b37c0292_0_29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a6b37c0292_0_29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a6b37c0292_0_29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a6b37c0292_0_29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a6b37c0292_0_29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g3a6b37c0292_0_292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a6b37c0292_0_292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6b37c0292_0_301"/>
          <p:cNvSpPr/>
          <p:nvPr/>
        </p:nvSpPr>
        <p:spPr>
          <a:xfrm>
            <a:off x="4572000" y="-2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g3a6b37c0292_0_30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g3a6b37c0292_0_301"/>
          <p:cNvSpPr txBox="1"/>
          <p:nvPr>
            <p:ph type="title"/>
          </p:nvPr>
        </p:nvSpPr>
        <p:spPr>
          <a:xfrm>
            <a:off x="265500" y="1534800"/>
            <a:ext cx="40452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" name="Google Shape;69;g3a6b37c0292_0_301"/>
          <p:cNvSpPr txBox="1"/>
          <p:nvPr>
            <p:ph idx="1" type="subTitle"/>
          </p:nvPr>
        </p:nvSpPr>
        <p:spPr>
          <a:xfrm>
            <a:off x="265500" y="3692002"/>
            <a:ext cx="40452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" name="Google Shape;70;g3a6b37c0292_0_301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g3a6b37c0292_0_301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6b37c0292_0_308"/>
          <p:cNvSpPr txBox="1"/>
          <p:nvPr>
            <p:ph idx="1" type="body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4" name="Google Shape;74;g3a6b37c0292_0_308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g3a6b37c0292_0_311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77" name="Google Shape;77;g3a6b37c0292_0_3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a6b37c0292_0_3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3a6b37c0292_0_3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3a6b37c0292_0_3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a6b37c0292_0_3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g3a6b37c0292_0_311"/>
          <p:cNvSpPr txBox="1"/>
          <p:nvPr>
            <p:ph hasCustomPrompt="1" type="title"/>
          </p:nvPr>
        </p:nvSpPr>
        <p:spPr>
          <a:xfrm>
            <a:off x="311700" y="1674733"/>
            <a:ext cx="8520600" cy="27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g3a6b37c0292_0_311"/>
          <p:cNvSpPr txBox="1"/>
          <p:nvPr>
            <p:ph idx="1" type="body"/>
          </p:nvPr>
        </p:nvSpPr>
        <p:spPr>
          <a:xfrm>
            <a:off x="311700" y="4492300"/>
            <a:ext cx="8520600" cy="17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g3a6b37c0292_0_311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6b37c0292_0_321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b37c0292_0_247"/>
          <p:cNvSpPr txBox="1"/>
          <p:nvPr>
            <p:ph type="title"/>
          </p:nvPr>
        </p:nvSpPr>
        <p:spPr>
          <a:xfrm>
            <a:off x="311700" y="546667"/>
            <a:ext cx="85206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3a6b37c0292_0_247"/>
          <p:cNvSpPr txBox="1"/>
          <p:nvPr>
            <p:ph idx="1" type="body"/>
          </p:nvPr>
        </p:nvSpPr>
        <p:spPr>
          <a:xfrm>
            <a:off x="311700" y="1639833"/>
            <a:ext cx="85206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a6b37c0292_0_247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598100" y="2366963"/>
            <a:ext cx="8222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Sistema Unidad Territorial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598100" y="3621241"/>
            <a:ext cx="8222100" cy="1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Proyecto APT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Gabriel Madariaga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Ingeniería en Informática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Contexto del proyecto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>
            <p:ph idx="1" type="body"/>
          </p:nvPr>
        </p:nvSpPr>
        <p:spPr>
          <a:xfrm>
            <a:off x="457200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El proyecto moderniza la gestión comunitaria mediante la digitalización de trámites, comunicación y registros.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Permite centralizar datos de vecinos, automatizar solicitudes y mejorar la transparencia de la Junta de Vecinos.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200" y="3628100"/>
            <a:ext cx="2190750" cy="31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Objetivo general:</a:t>
            </a:r>
            <a:endParaRPr sz="1800"/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Desarrollar un sistema web que apoye la gestión administrativa y comunicacional de una junta de vecinos.</a:t>
            </a:r>
            <a:endParaRPr/>
          </a:p>
          <a:p>
            <a:pPr indent="-2286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Objetivos específicos:</a:t>
            </a:r>
            <a:endParaRPr sz="1800"/>
          </a:p>
          <a:p>
            <a:pPr indent="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Digitalizar la inscripción de vecinos.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Automatizar la solicitud de certificados.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Publicar noticias, proyectos y comunicados.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Habilitar un canal de contacto ciudadano.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Implementar una arquitectura escalable y mantenible.</a:t>
            </a:r>
            <a:endParaRPr/>
          </a:p>
        </p:txBody>
      </p:sp>
      <p:pic>
        <p:nvPicPr>
          <p:cNvPr id="106" name="Google Shape;10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2025" y="2746512"/>
            <a:ext cx="3127725" cy="2233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utilizada</a:t>
            </a:r>
            <a:endParaRPr/>
          </a:p>
        </p:txBody>
      </p:sp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Se utilizó la metodología ágil Scrum, organizada en sprints cortos.</a:t>
            </a:r>
            <a:endParaRPr/>
          </a:p>
          <a:p>
            <a:pPr indent="-2286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Principales actividades por sprint:</a:t>
            </a:r>
            <a:endParaRPr sz="1800"/>
          </a:p>
          <a:p>
            <a:pPr indent="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Levantamiento y refinamiento de requisitos.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Diseño de arquitectura y modelo de datos.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Desarrollo incremental de módulos.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Pruebas y ajuste de funcionalidades.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Documentación de avances y retrospectiva.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175" y="2276675"/>
            <a:ext cx="3173026" cy="317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/>
          </a:p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457200" y="1241400"/>
            <a:ext cx="8229600" cy="54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Tecnologías utilizadas:</a:t>
            </a:r>
            <a:endParaRPr sz="1800"/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Backend: Django (Python).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Frontend: HTML, CSS, Bootstrap.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Base de datos: MySQL WorkBench 8.0 CE</a:t>
            </a:r>
            <a:r>
              <a:rPr lang="en-US"/>
              <a:t>, dentro de DockerDesktop.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-Autenticación de sistemas de usuarios de Django con formularios personalizados.</a:t>
            </a:r>
            <a:endParaRPr/>
          </a:p>
          <a:p>
            <a:pPr indent="-2286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Estructura general: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Portal público: Servicios, Noticias, Contacto.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Intranet: gestión de vecinos, certificados, proyectos, actividades y notificaciones.</a:t>
            </a:r>
            <a:endParaRPr/>
          </a:p>
        </p:txBody>
      </p:sp>
      <p:pic>
        <p:nvPicPr>
          <p:cNvPr id="120" name="Google Shape;12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350" y="3429000"/>
            <a:ext cx="2500675" cy="19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implementados</a:t>
            </a:r>
            <a:endParaRPr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Portal público:</a:t>
            </a:r>
            <a:endParaRPr sz="1800"/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Inicio y presentación del portal vecinal.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Servicios: inscripción, certificados, actividades.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Noticias: proyectos vecinales y comunicados.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Contacto: formulario y canal de WhatsApp.</a:t>
            </a:r>
            <a:endParaRPr/>
          </a:p>
          <a:p>
            <a:pPr indent="-2286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Intranet:</a:t>
            </a:r>
            <a:endParaRPr sz="1800"/>
          </a:p>
          <a:p>
            <a:pPr indent="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Gestión de vecinos e inscripciones.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Administración de certificados.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Proyectos vecinales.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Actividades y reservas.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Notificaciones internas y externas.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696a6439_0_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Módulos de base de datos</a:t>
            </a:r>
            <a:endParaRPr sz="4400"/>
          </a:p>
        </p:txBody>
      </p:sp>
      <p:sp>
        <p:nvSpPr>
          <p:cNvPr id="132" name="Google Shape;132;g3aa696a6439_0_2"/>
          <p:cNvSpPr txBox="1"/>
          <p:nvPr>
            <p:ph idx="1" type="body"/>
          </p:nvPr>
        </p:nvSpPr>
        <p:spPr>
          <a:xfrm>
            <a:off x="457200" y="1281350"/>
            <a:ext cx="8229600" cy="484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Entidades principales: Vecino, Inscripción, Certificado, Proyecto Vecinal, Actividad, Reserva Actividad y Notificación.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Relaciones clave: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- Un vecino puede tener varias inscripciones.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- Una actividad puede tener varias reservas.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- Las notificaciones se asocian a eventos del sistema y a usuarios específicos.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696a6439_0_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Flujo del sistema</a:t>
            </a:r>
            <a:endParaRPr sz="4400"/>
          </a:p>
        </p:txBody>
      </p:sp>
      <p:sp>
        <p:nvSpPr>
          <p:cNvPr id="138" name="Google Shape;138;g3aa696a6439_0_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Flujo general: Portal público → Intranet → Base de datos y notificaciones.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Ejemplo de inscripción: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1. El vecino completa el formulario público.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2. El sistema valida los datos y verifica si el vecino ya existe.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3. Se crea o actualiza el registro de vecino y se registra la inscripción con estado pendiente.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/>
              <a:t>4. Los administradores revisan la inscripción desde la intranet y actualizan su estado.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Fase 2</a:t>
            </a:r>
            <a:endParaRPr/>
          </a:p>
        </p:txBody>
      </p:sp>
      <p:sp>
        <p:nvSpPr>
          <p:cNvPr id="144" name="Google Shape;14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Resultados principales:</a:t>
            </a:r>
            <a:endParaRPr sz="1800"/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Prototipo funcional del sistema en ejecución.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Portal público operativo con navegación completa.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Intranet con módulos base configurados.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Definición de arquitectura, modelo de datos y flujos.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- Documentación técnica y de avance elaborada.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4575" y="4465400"/>
            <a:ext cx="4089751" cy="204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75c48cc5c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400"/>
              <a:t>Conclusión</a:t>
            </a:r>
            <a:endParaRPr sz="4400"/>
          </a:p>
        </p:txBody>
      </p:sp>
      <p:sp>
        <p:nvSpPr>
          <p:cNvPr id="151" name="Google Shape;151;g3a75c48cc5c_0_0"/>
          <p:cNvSpPr txBox="1"/>
          <p:nvPr>
            <p:ph idx="1" type="body"/>
          </p:nvPr>
        </p:nvSpPr>
        <p:spPr>
          <a:xfrm>
            <a:off x="457200" y="15457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El Sistema Unidad Territorial es una plataforma web moderna y escalable que centraliza la gestión comunitaria mediante un portal público y una intranet administrativa. Su diseño mejora la eficiencia operativa, la comunicación con los vecinos y la transparencia de los procesos internos. Además, su arquitectura modular establece una base sólida para futuras ampliaciones, incluyendo reportes, analítica e integración con servicios municipales.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833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