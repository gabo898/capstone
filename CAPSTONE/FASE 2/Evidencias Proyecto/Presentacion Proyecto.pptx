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y="6858000" cx="9144000"/>
  <p:notesSz cx="6858000" cy="9144000"/>
  <p:embeddedFontLst>
    <p:embeddedFont>
      <p:font typeface="Roboto"/>
      <p:regular r:id="rId12"/>
      <p:bold r:id="rId13"/>
      <p:italic r:id="rId14"/>
      <p:boldItalic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16" roundtripDataSignature="AMtx7mjtpTkn32Q8TAb3+42YH2DhNl5oW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font" Target="fonts/Roboto-bold.fntdata"/><Relationship Id="rId12" Type="http://schemas.openxmlformats.org/officeDocument/2006/relationships/font" Target="fonts/Roboto-regular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Roboto-boldItalic.fntdata"/><Relationship Id="rId14" Type="http://schemas.openxmlformats.org/officeDocument/2006/relationships/font" Target="fonts/Roboto-italic.fntdata"/><Relationship Id="rId16" Type="http://customschemas.google.com/relationships/presentationmetadata" Target="meta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oogle Shape;10;g3a6b37c0292_0_251"/>
          <p:cNvGrpSpPr/>
          <p:nvPr/>
        </p:nvGrpSpPr>
        <p:grpSpPr>
          <a:xfrm>
            <a:off x="6098378" y="7"/>
            <a:ext cx="3045625" cy="2707359"/>
            <a:chOff x="6098378" y="5"/>
            <a:chExt cx="3045625" cy="2030570"/>
          </a:xfrm>
        </p:grpSpPr>
        <p:sp>
          <p:nvSpPr>
            <p:cNvPr id="11" name="Google Shape;11;g3a6b37c0292_0_25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" name="Google Shape;12;g3a6b37c0292_0_25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g3a6b37c0292_0_251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g3a6b37c0292_0_25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g3a6b37c0292_0_25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" name="Google Shape;16;g3a6b37c0292_0_251"/>
          <p:cNvSpPr txBox="1"/>
          <p:nvPr>
            <p:ph type="ctrTitle"/>
          </p:nvPr>
        </p:nvSpPr>
        <p:spPr>
          <a:xfrm>
            <a:off x="598100" y="2366963"/>
            <a:ext cx="8222100" cy="111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" name="Google Shape;17;g3a6b37c0292_0_251"/>
          <p:cNvSpPr txBox="1"/>
          <p:nvPr>
            <p:ph idx="1" type="subTitle"/>
          </p:nvPr>
        </p:nvSpPr>
        <p:spPr>
          <a:xfrm>
            <a:off x="598088" y="3621217"/>
            <a:ext cx="8222100" cy="57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8" name="Google Shape;18;g3a6b37c0292_0_251"/>
          <p:cNvSpPr txBox="1"/>
          <p:nvPr>
            <p:ph idx="12" type="sldNum"/>
          </p:nvPr>
        </p:nvSpPr>
        <p:spPr>
          <a:xfrm>
            <a:off x="8460431" y="6201587"/>
            <a:ext cx="5487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g3a6b37c0292_0_261"/>
          <p:cNvGrpSpPr/>
          <p:nvPr/>
        </p:nvGrpSpPr>
        <p:grpSpPr>
          <a:xfrm>
            <a:off x="6098378" y="7"/>
            <a:ext cx="3045625" cy="2707359"/>
            <a:chOff x="6098378" y="5"/>
            <a:chExt cx="3045625" cy="2030570"/>
          </a:xfrm>
        </p:grpSpPr>
        <p:sp>
          <p:nvSpPr>
            <p:cNvPr id="21" name="Google Shape;21;g3a6b37c0292_0_26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" name="Google Shape;22;g3a6b37c0292_0_26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" name="Google Shape;23;g3a6b37c0292_0_261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g3a6b37c0292_0_26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g3a6b37c0292_0_26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6" name="Google Shape;26;g3a6b37c0292_0_261"/>
          <p:cNvSpPr txBox="1"/>
          <p:nvPr>
            <p:ph type="title"/>
          </p:nvPr>
        </p:nvSpPr>
        <p:spPr>
          <a:xfrm>
            <a:off x="598100" y="2869796"/>
            <a:ext cx="8222100" cy="111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7" name="Google Shape;27;g3a6b37c0292_0_261"/>
          <p:cNvSpPr txBox="1"/>
          <p:nvPr>
            <p:ph idx="12" type="sldNum"/>
          </p:nvPr>
        </p:nvSpPr>
        <p:spPr>
          <a:xfrm>
            <a:off x="8460431" y="6201587"/>
            <a:ext cx="5487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oogle Shape;29;g3a6b37c0292_0_270"/>
          <p:cNvGrpSpPr/>
          <p:nvPr/>
        </p:nvGrpSpPr>
        <p:grpSpPr>
          <a:xfrm>
            <a:off x="0" y="5204762"/>
            <a:ext cx="9144000" cy="1653192"/>
            <a:chOff x="0" y="3903669"/>
            <a:chExt cx="9144000" cy="1239925"/>
          </a:xfrm>
        </p:grpSpPr>
        <p:sp>
          <p:nvSpPr>
            <p:cNvPr id="30" name="Google Shape;30;g3a6b37c0292_0_270"/>
            <p:cNvSpPr/>
            <p:nvPr/>
          </p:nvSpPr>
          <p:spPr>
            <a:xfrm>
              <a:off x="8154895" y="3903669"/>
              <a:ext cx="989100" cy="9879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g3a6b37c0292_0_270"/>
            <p:cNvSpPr/>
            <p:nvPr/>
          </p:nvSpPr>
          <p:spPr>
            <a:xfrm flipH="1">
              <a:off x="6181163" y="3903669"/>
              <a:ext cx="989100" cy="9879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g3a6b37c0292_0_270"/>
            <p:cNvSpPr/>
            <p:nvPr/>
          </p:nvSpPr>
          <p:spPr>
            <a:xfrm>
              <a:off x="7170274" y="3903669"/>
              <a:ext cx="989100" cy="9879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g3a6b37c0292_0_270"/>
            <p:cNvSpPr/>
            <p:nvPr/>
          </p:nvSpPr>
          <p:spPr>
            <a:xfrm rot="10800000">
              <a:off x="8154757" y="3903682"/>
              <a:ext cx="989100" cy="987900"/>
            </a:xfrm>
            <a:prstGeom prst="rtTriangl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" name="Google Shape;34;g3a6b37c0292_0_270"/>
            <p:cNvSpPr/>
            <p:nvPr/>
          </p:nvSpPr>
          <p:spPr>
            <a:xfrm>
              <a:off x="0" y="4891594"/>
              <a:ext cx="9144000" cy="2520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5" name="Google Shape;35;g3a6b37c0292_0_270"/>
          <p:cNvSpPr txBox="1"/>
          <p:nvPr>
            <p:ph type="title"/>
          </p:nvPr>
        </p:nvSpPr>
        <p:spPr>
          <a:xfrm>
            <a:off x="311700" y="546667"/>
            <a:ext cx="8520600" cy="810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6" name="Google Shape;36;g3a6b37c0292_0_270"/>
          <p:cNvSpPr txBox="1"/>
          <p:nvPr>
            <p:ph idx="1" type="body"/>
          </p:nvPr>
        </p:nvSpPr>
        <p:spPr>
          <a:xfrm>
            <a:off x="311700" y="1639833"/>
            <a:ext cx="8520600" cy="4452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7" name="Google Shape;37;g3a6b37c0292_0_270"/>
          <p:cNvSpPr txBox="1"/>
          <p:nvPr>
            <p:ph idx="12" type="sldNum"/>
          </p:nvPr>
        </p:nvSpPr>
        <p:spPr>
          <a:xfrm>
            <a:off x="8460431" y="6201587"/>
            <a:ext cx="5487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g3a6b37c0292_0_280"/>
          <p:cNvSpPr txBox="1"/>
          <p:nvPr>
            <p:ph type="title"/>
          </p:nvPr>
        </p:nvSpPr>
        <p:spPr>
          <a:xfrm>
            <a:off x="311700" y="546667"/>
            <a:ext cx="8520600" cy="810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0" name="Google Shape;40;g3a6b37c0292_0_280"/>
          <p:cNvSpPr txBox="1"/>
          <p:nvPr>
            <p:ph idx="1" type="body"/>
          </p:nvPr>
        </p:nvSpPr>
        <p:spPr>
          <a:xfrm>
            <a:off x="311700" y="1639967"/>
            <a:ext cx="3999900" cy="4452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" name="Google Shape;41;g3a6b37c0292_0_280"/>
          <p:cNvSpPr txBox="1"/>
          <p:nvPr>
            <p:ph idx="2" type="body"/>
          </p:nvPr>
        </p:nvSpPr>
        <p:spPr>
          <a:xfrm>
            <a:off x="4832400" y="1639967"/>
            <a:ext cx="3999900" cy="4452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" name="Google Shape;42;g3a6b37c0292_0_280"/>
          <p:cNvSpPr txBox="1"/>
          <p:nvPr>
            <p:ph idx="12" type="sldNum"/>
          </p:nvPr>
        </p:nvSpPr>
        <p:spPr>
          <a:xfrm>
            <a:off x="8460431" y="6201587"/>
            <a:ext cx="5487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g3a6b37c0292_0_285"/>
          <p:cNvSpPr txBox="1"/>
          <p:nvPr>
            <p:ph type="title"/>
          </p:nvPr>
        </p:nvSpPr>
        <p:spPr>
          <a:xfrm>
            <a:off x="311700" y="546667"/>
            <a:ext cx="8520600" cy="810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" name="Google Shape;45;g3a6b37c0292_0_285"/>
          <p:cNvSpPr txBox="1"/>
          <p:nvPr>
            <p:ph idx="12" type="sldNum"/>
          </p:nvPr>
        </p:nvSpPr>
        <p:spPr>
          <a:xfrm>
            <a:off x="8460431" y="6201587"/>
            <a:ext cx="5487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a6b37c0292_0_288"/>
          <p:cNvSpPr txBox="1"/>
          <p:nvPr>
            <p:ph type="title"/>
          </p:nvPr>
        </p:nvSpPr>
        <p:spPr>
          <a:xfrm>
            <a:off x="311700" y="740800"/>
            <a:ext cx="2808000" cy="100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8" name="Google Shape;48;g3a6b37c0292_0_288"/>
          <p:cNvSpPr txBox="1"/>
          <p:nvPr>
            <p:ph idx="1" type="body"/>
          </p:nvPr>
        </p:nvSpPr>
        <p:spPr>
          <a:xfrm>
            <a:off x="311700" y="1954405"/>
            <a:ext cx="2808000" cy="4137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9" name="Google Shape;49;g3a6b37c0292_0_288"/>
          <p:cNvSpPr txBox="1"/>
          <p:nvPr>
            <p:ph idx="12" type="sldNum"/>
          </p:nvPr>
        </p:nvSpPr>
        <p:spPr>
          <a:xfrm>
            <a:off x="8460431" y="6201587"/>
            <a:ext cx="5487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4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Google Shape;51;g3a6b37c0292_0_292"/>
          <p:cNvGrpSpPr/>
          <p:nvPr/>
        </p:nvGrpSpPr>
        <p:grpSpPr>
          <a:xfrm>
            <a:off x="6098378" y="7"/>
            <a:ext cx="3045625" cy="2707359"/>
            <a:chOff x="6098378" y="5"/>
            <a:chExt cx="3045625" cy="2030570"/>
          </a:xfrm>
        </p:grpSpPr>
        <p:sp>
          <p:nvSpPr>
            <p:cNvPr id="52" name="Google Shape;52;g3a6b37c0292_0_29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" name="Google Shape;53;g3a6b37c0292_0_29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" name="Google Shape;54;g3a6b37c0292_0_292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" name="Google Shape;55;g3a6b37c0292_0_29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" name="Google Shape;56;g3a6b37c0292_0_29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7" name="Google Shape;57;g3a6b37c0292_0_292"/>
          <p:cNvSpPr txBox="1"/>
          <p:nvPr>
            <p:ph type="title"/>
          </p:nvPr>
        </p:nvSpPr>
        <p:spPr>
          <a:xfrm>
            <a:off x="490250" y="701800"/>
            <a:ext cx="5618700" cy="545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8" name="Google Shape;58;g3a6b37c0292_0_292"/>
          <p:cNvSpPr txBox="1"/>
          <p:nvPr>
            <p:ph idx="12" type="sldNum"/>
          </p:nvPr>
        </p:nvSpPr>
        <p:spPr>
          <a:xfrm>
            <a:off x="8460431" y="6201587"/>
            <a:ext cx="5487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a6b37c0292_0_301"/>
          <p:cNvSpPr/>
          <p:nvPr/>
        </p:nvSpPr>
        <p:spPr>
          <a:xfrm>
            <a:off x="4572000" y="-233"/>
            <a:ext cx="4572000" cy="6858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61" name="Google Shape;61;g3a6b37c0292_0_301"/>
          <p:cNvCxnSpPr/>
          <p:nvPr/>
        </p:nvCxnSpPr>
        <p:spPr>
          <a:xfrm>
            <a:off x="5029675" y="59940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" name="Google Shape;62;g3a6b37c0292_0_301"/>
          <p:cNvSpPr txBox="1"/>
          <p:nvPr>
            <p:ph type="title"/>
          </p:nvPr>
        </p:nvSpPr>
        <p:spPr>
          <a:xfrm>
            <a:off x="265500" y="1534800"/>
            <a:ext cx="4045200" cy="2085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63" name="Google Shape;63;g3a6b37c0292_0_301"/>
          <p:cNvSpPr txBox="1"/>
          <p:nvPr>
            <p:ph idx="1" type="subTitle"/>
          </p:nvPr>
        </p:nvSpPr>
        <p:spPr>
          <a:xfrm>
            <a:off x="265500" y="3692002"/>
            <a:ext cx="4045200" cy="1692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64" name="Google Shape;64;g3a6b37c0292_0_301"/>
          <p:cNvSpPr txBox="1"/>
          <p:nvPr>
            <p:ph idx="2" type="body"/>
          </p:nvPr>
        </p:nvSpPr>
        <p:spPr>
          <a:xfrm>
            <a:off x="4939500" y="965600"/>
            <a:ext cx="3837000" cy="4926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5" name="Google Shape;65;g3a6b37c0292_0_301"/>
          <p:cNvSpPr txBox="1"/>
          <p:nvPr>
            <p:ph idx="12" type="sldNum"/>
          </p:nvPr>
        </p:nvSpPr>
        <p:spPr>
          <a:xfrm>
            <a:off x="8460431" y="6201587"/>
            <a:ext cx="5487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3a6b37c0292_0_308"/>
          <p:cNvSpPr txBox="1"/>
          <p:nvPr>
            <p:ph idx="1" type="body"/>
          </p:nvPr>
        </p:nvSpPr>
        <p:spPr>
          <a:xfrm>
            <a:off x="319500" y="5640767"/>
            <a:ext cx="5998800" cy="798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68" name="Google Shape;68;g3a6b37c0292_0_308"/>
          <p:cNvSpPr txBox="1"/>
          <p:nvPr>
            <p:ph idx="12" type="sldNum"/>
          </p:nvPr>
        </p:nvSpPr>
        <p:spPr>
          <a:xfrm>
            <a:off x="8460431" y="6201587"/>
            <a:ext cx="5487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dk1"/>
        </a:solid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g3a6b37c0292_0_311"/>
          <p:cNvGrpSpPr/>
          <p:nvPr/>
        </p:nvGrpSpPr>
        <p:grpSpPr>
          <a:xfrm>
            <a:off x="6098378" y="7"/>
            <a:ext cx="3045625" cy="2707359"/>
            <a:chOff x="6098378" y="5"/>
            <a:chExt cx="3045625" cy="2030570"/>
          </a:xfrm>
        </p:grpSpPr>
        <p:sp>
          <p:nvSpPr>
            <p:cNvPr id="71" name="Google Shape;71;g3a6b37c0292_0_31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" name="Google Shape;72;g3a6b37c0292_0_31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" name="Google Shape;73;g3a6b37c0292_0_311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" name="Google Shape;74;g3a6b37c0292_0_31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" name="Google Shape;75;g3a6b37c0292_0_31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6" name="Google Shape;76;g3a6b37c0292_0_311"/>
          <p:cNvSpPr txBox="1"/>
          <p:nvPr>
            <p:ph hasCustomPrompt="1" type="title"/>
          </p:nvPr>
        </p:nvSpPr>
        <p:spPr>
          <a:xfrm>
            <a:off x="311700" y="1674733"/>
            <a:ext cx="8520600" cy="2707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7" name="Google Shape;77;g3a6b37c0292_0_311"/>
          <p:cNvSpPr txBox="1"/>
          <p:nvPr>
            <p:ph idx="1" type="body"/>
          </p:nvPr>
        </p:nvSpPr>
        <p:spPr>
          <a:xfrm>
            <a:off x="311700" y="4492300"/>
            <a:ext cx="8520600" cy="1709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8" name="Google Shape;78;g3a6b37c0292_0_311"/>
          <p:cNvSpPr txBox="1"/>
          <p:nvPr>
            <p:ph idx="12" type="sldNum"/>
          </p:nvPr>
        </p:nvSpPr>
        <p:spPr>
          <a:xfrm>
            <a:off x="8460431" y="6201587"/>
            <a:ext cx="5487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a6b37c0292_0_321"/>
          <p:cNvSpPr txBox="1"/>
          <p:nvPr>
            <p:ph idx="12" type="sldNum"/>
          </p:nvPr>
        </p:nvSpPr>
        <p:spPr>
          <a:xfrm>
            <a:off x="8460431" y="6201587"/>
            <a:ext cx="5487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a6b37c0292_0_32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83" name="Google Shape;83;g3a6b37c0292_0_323"/>
          <p:cNvSpPr txBox="1"/>
          <p:nvPr>
            <p:ph idx="1" type="body"/>
          </p:nvPr>
        </p:nvSpPr>
        <p:spPr>
          <a:xfrm>
            <a:off x="457200" y="1600200"/>
            <a:ext cx="8229600" cy="452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indent="-342900" lvl="1" marL="9144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indent="-342900" lvl="2" marL="13716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indent="-342900" lvl="3" marL="18288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indent="-342900" lvl="4" marL="22860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indent="-342900" lvl="5" marL="27432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indent="-342900" lvl="6" marL="32004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indent="-342900" lvl="7" marL="36576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indent="-342900" lvl="8" marL="411480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/>
        </p:txBody>
      </p:sp>
      <p:sp>
        <p:nvSpPr>
          <p:cNvPr id="84" name="Google Shape;84;g3a6b37c0292_0_323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5" name="Google Shape;85;g3a6b37c0292_0_323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g3a6b37c0292_0_323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g3a6b37c0292_0_247"/>
          <p:cNvSpPr txBox="1"/>
          <p:nvPr>
            <p:ph type="title"/>
          </p:nvPr>
        </p:nvSpPr>
        <p:spPr>
          <a:xfrm>
            <a:off x="311700" y="546667"/>
            <a:ext cx="8520600" cy="81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g3a6b37c0292_0_247"/>
          <p:cNvSpPr txBox="1"/>
          <p:nvPr>
            <p:ph idx="1" type="body"/>
          </p:nvPr>
        </p:nvSpPr>
        <p:spPr>
          <a:xfrm>
            <a:off x="311700" y="1639833"/>
            <a:ext cx="8520600" cy="445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" name="Google Shape;8;g3a6b37c0292_0_247"/>
          <p:cNvSpPr txBox="1"/>
          <p:nvPr>
            <p:ph idx="12" type="sldNum"/>
          </p:nvPr>
        </p:nvSpPr>
        <p:spPr>
          <a:xfrm>
            <a:off x="8460431" y="6201587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"/>
          <p:cNvSpPr txBox="1"/>
          <p:nvPr>
            <p:ph type="ctrTitle"/>
          </p:nvPr>
        </p:nvSpPr>
        <p:spPr>
          <a:xfrm>
            <a:off x="598100" y="2366963"/>
            <a:ext cx="8222100" cy="1118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sz="4400">
                <a:latin typeface="Calibri"/>
                <a:ea typeface="Calibri"/>
                <a:cs typeface="Calibri"/>
                <a:sym typeface="Calibri"/>
              </a:rPr>
              <a:t>Sistema Unidad Territorial</a:t>
            </a:r>
            <a:endParaRPr/>
          </a:p>
        </p:txBody>
      </p:sp>
      <p:sp>
        <p:nvSpPr>
          <p:cNvPr id="92" name="Google Shape;92;p1"/>
          <p:cNvSpPr txBox="1"/>
          <p:nvPr>
            <p:ph idx="1" type="subTitle"/>
          </p:nvPr>
        </p:nvSpPr>
        <p:spPr>
          <a:xfrm>
            <a:off x="598100" y="3621241"/>
            <a:ext cx="8222100" cy="174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</a:pPr>
            <a:r>
              <a:rPr lang="en-US"/>
              <a:t>Proyecto APT - Fase 2</a:t>
            </a:r>
            <a:endParaRPr/>
          </a:p>
          <a:p>
            <a:pPr indent="0" lvl="0" marL="0" rt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</a:pPr>
            <a:r>
              <a:rPr lang="en-US"/>
              <a:t>Gabriel Madariaga</a:t>
            </a:r>
            <a:endParaRPr/>
          </a:p>
          <a:p>
            <a:pPr indent="0" lvl="0" marL="0" rt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</a:pPr>
            <a:r>
              <a:rPr lang="en-US"/>
              <a:t>Ingeniería en Informática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Objetivos del proyecto</a:t>
            </a:r>
            <a:endParaRPr/>
          </a:p>
        </p:txBody>
      </p:sp>
      <p:sp>
        <p:nvSpPr>
          <p:cNvPr id="98" name="Google Shape;98;p2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3429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Objetivo general: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Desarrollar un sistema web que apoye la gestión administrativa y comunicacional de una junta de vecinos.</a:t>
            </a:r>
            <a:endParaRPr/>
          </a:p>
          <a:p>
            <a:pPr indent="-2286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t/>
            </a:r>
            <a:endParaRPr sz="1800"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Objetivos específicos: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- Digitalizar la inscripción de vecinos.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- Automatizar la solicitud de certificados.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- Publicar noticias, proyectos y comunicados.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- Habilitar un canal de contacto ciudadano.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120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- Implementar una arquitectura escalable y mantenible.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Metodología utilizada</a:t>
            </a:r>
            <a:endParaRPr/>
          </a:p>
        </p:txBody>
      </p:sp>
      <p:sp>
        <p:nvSpPr>
          <p:cNvPr id="104" name="Google Shape;104;p3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3429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Se utilizó la metodología ágil Scrum, organizada en sprints cortos.</a:t>
            </a:r>
            <a:endParaRPr/>
          </a:p>
          <a:p>
            <a:pPr indent="-2286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t/>
            </a:r>
            <a:endParaRPr sz="1800"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Principales actividades por sprint: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- Levantamiento y refinamiento de requisitos.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- Diseño de arquitectura y modelo de datos.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- Desarrollo incremental de módulos.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- Pruebas y ajuste de funcionalidades.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120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- Documentación de avances y retrospectiva.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Arquitectura del sistema</a:t>
            </a:r>
            <a:endParaRPr/>
          </a:p>
        </p:txBody>
      </p:sp>
      <p:sp>
        <p:nvSpPr>
          <p:cNvPr id="110" name="Google Shape;110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3429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Tecnologías utilizadas: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- Backend: Django (Python).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- Frontend: HTML, CSS, Bootstrap.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- Base de datos: MySQL.</a:t>
            </a:r>
            <a:endParaRPr/>
          </a:p>
          <a:p>
            <a:pPr indent="-2286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t/>
            </a:r>
            <a:endParaRPr sz="1800"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Estructura general: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- Portal público: Servicios, Noticias, Contacto.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120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- Intranet: gestión de vecinos, certificados, proyectos, actividades y notificaciones.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Módulos implementados</a:t>
            </a:r>
            <a:endParaRPr/>
          </a:p>
        </p:txBody>
      </p:sp>
      <p:sp>
        <p:nvSpPr>
          <p:cNvPr id="116" name="Google Shape;116;p5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3429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Portal público: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- Inicio y presentación del portal vecinal.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- Servicios: inscripción, certificados, actividades.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- Noticias: proyectos vecinales y comunicados.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- Contacto: formulario y canal de WhatsApp.</a:t>
            </a:r>
            <a:endParaRPr/>
          </a:p>
          <a:p>
            <a:pPr indent="-2286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t/>
            </a:r>
            <a:endParaRPr sz="1800"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Intranet: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- Gestión de vecinos e inscripciones.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- Administración de certificados.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- Proyectos vecinales.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- Actividades y reservas.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120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- Notificaciones internas y externas.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Resultados Fase 2</a:t>
            </a:r>
            <a:endParaRPr/>
          </a:p>
        </p:txBody>
      </p:sp>
      <p:sp>
        <p:nvSpPr>
          <p:cNvPr id="122" name="Google Shape;122;p6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3429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Resultados principales: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- Prototipo funcional del sistema en ejecución.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- Portal público operativo con navegación completa.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- Intranet con módulos base configurados.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- Definición de arquitectura, modelo de datos y flujos.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- Documentación técnica y de avance elaborada.</a:t>
            </a:r>
            <a:endParaRPr/>
          </a:p>
          <a:p>
            <a:pPr indent="-2286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t/>
            </a:r>
            <a:endParaRPr sz="1800"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Trabajo pendiente para fases posteriores: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- Profundizar pruebas con usuarios reales.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120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- Completar despliegue definitivo y ajuste visual fino.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eometric">
  <a:themeElements>
    <a:clrScheme name="Geometric">
      <a:dk1>
        <a:srgbClr val="2A3990"/>
      </a:dk1>
      <a:lt1>
        <a:srgbClr val="FFFFFF"/>
      </a:lt1>
      <a:dk2>
        <a:srgbClr val="434343"/>
      </a:dk2>
      <a:lt2>
        <a:srgbClr val="999999"/>
      </a:lt2>
      <a:accent1>
        <a:srgbClr val="212D74"/>
      </a:accent1>
      <a:accent2>
        <a:srgbClr val="3949AB"/>
      </a:accent2>
      <a:accent3>
        <a:srgbClr val="9C254D"/>
      </a:accent3>
      <a:accent4>
        <a:srgbClr val="D23369"/>
      </a:accent4>
      <a:accent5>
        <a:srgbClr val="F06292"/>
      </a:accent5>
      <a:accent6>
        <a:srgbClr val="7890CD"/>
      </a:accent6>
      <a:hlink>
        <a:srgbClr val="F06292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